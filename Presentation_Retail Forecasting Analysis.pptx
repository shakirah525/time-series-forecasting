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F723CF-B241-490D-9642-94E03530633E}">
  <a:tblStyle styleId="{73F723CF-B241-490D-9642-94E0353063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4.xml"/><Relationship Id="rId21" Type="http://schemas.openxmlformats.org/officeDocument/2006/relationships/font" Target="fonts/Montserra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00" y="4438054"/>
            <a:ext cx="73152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15502" y="2447329"/>
            <a:ext cx="796099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Retail Sales Forecasting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81375" y="3552229"/>
            <a:ext cx="5429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Optimization Strategies for the Guayas Region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724275" y="4638079"/>
            <a:ext cx="6029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Guayas, Ecuador  January 2026  Data Science Project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8737" y="4647604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5288" y="464760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30864" y="4647604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58" y="1695450"/>
            <a:ext cx="595744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81000"/>
            <a:ext cx="393049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BUSINESS CONTEXT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5458" y="2238821"/>
            <a:ext cx="5652641" cy="319935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04875" y="262413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Challenge: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High volatility in daily sales within the Guayas province.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395662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Inventory Goals: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Reduce capital tied up in excess stock while preventing costly out-of-stock events.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167187"/>
            <a:ext cx="437718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Dynamic Drivers: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Sales are heavily influenced by oil prices, national holidays, and store-specific promotions.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4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5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6718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58" y="1695450"/>
            <a:ext cx="595744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81000"/>
            <a:ext cx="497062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EXPLORATORY ANALYSIS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5458" y="1954410"/>
            <a:ext cx="5652641" cy="376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04875" y="262413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Weekend Effect: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Identified massive demand spikes every Saturday and Sunday across all stores.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4875" y="3395662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Promotion Impact: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Items on promotion drive 2.4x higher volume on average.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04875" y="4167187"/>
            <a:ext cx="437718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Economic Health: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Local sales trends show a moderate correlation with national oil price fluctuations.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4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5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67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42125" y="1695450"/>
            <a:ext cx="6222851" cy="3903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58" y="1695450"/>
            <a:ext cx="595744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381000"/>
            <a:ext cx="385048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MODEL 1: XGBOOST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5458" y="1954410"/>
            <a:ext cx="5652641" cy="376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04875" y="262413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Approach: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Gradient Boosted Trees for structured tabular data.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" y="3395662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Performance: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Lowest error rate among all tested models.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04875" y="4167187"/>
            <a:ext cx="437718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Key Driver: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Feature importance analysis showed "On-Promotion" and "Day of Week" as primary sales predictors.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4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5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67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5450" y="1954400"/>
            <a:ext cx="6056599" cy="362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58" y="1695450"/>
            <a:ext cx="595744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381000"/>
            <a:ext cx="304038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MODEL 2: LSTM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5458" y="2223492"/>
            <a:ext cx="5652641" cy="323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04875" y="275748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Approach: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Recurrent Neural Network (RNN) focused on sequential data.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3529012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Characteristics: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Captures non-linear temporal dependencies.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430053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Constraint: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Tended to under-forecast during extreme promotional spikes (Negative Bias).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57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9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05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58" y="1695450"/>
            <a:ext cx="5957441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381000"/>
            <a:ext cx="389048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MODEL 3: PROPHET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5458" y="1954410"/>
            <a:ext cx="5652641" cy="37683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04875" y="275748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Approach: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Additive model for decomposing trend and seasonality.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04875" y="3529012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Strengths: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Exceptional at visualizing holiday impacts and long-term business cycles.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04875" y="430053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Results: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Effective for macro-planning but less accurate for daily replenishment.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574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29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00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5450" y="1785025"/>
            <a:ext cx="6281298" cy="39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381000"/>
            <a:ext cx="30203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FINAL RESULTS</a:t>
            </a:r>
            <a:endParaRPr/>
          </a:p>
        </p:txBody>
      </p:sp>
      <p:graphicFrame>
        <p:nvGraphicFramePr>
          <p:cNvPr id="177" name="Google Shape;177;p19"/>
          <p:cNvGraphicFramePr/>
          <p:nvPr/>
        </p:nvGraphicFramePr>
        <p:xfrm>
          <a:off x="571500" y="2400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{73F723CF-B241-490D-9642-94E03530633E}</a:tableStyleId>
              </a:tblPr>
              <a:tblGrid>
                <a:gridCol w="2970750"/>
                <a:gridCol w="2170800"/>
                <a:gridCol w="2182275"/>
                <a:gridCol w="1919425"/>
                <a:gridCol w="1805725"/>
              </a:tblGrid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 (Avg 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RMSE (Variance)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Forecast Bias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 (Decision Trees)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🏆 WINNER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3FF"/>
                    </a:solidFill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LSTM (Neural Networks)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14.98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-0.70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Reliable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Prophet (Statistical)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74.57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87.08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73.87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Strategic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19"/>
          <p:cNvSpPr txBox="1"/>
          <p:nvPr/>
        </p:nvSpPr>
        <p:spPr>
          <a:xfrm>
            <a:off x="571500" y="513397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Note: XGBoost provides the highest precision for operational inventory management.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2976562"/>
            <a:ext cx="2970758" cy="285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542258" y="2976562"/>
            <a:ext cx="2170807" cy="285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713065" y="2976562"/>
            <a:ext cx="2182266" cy="285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7895332" y="2976562"/>
            <a:ext cx="1919436" cy="285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814768" y="2976562"/>
            <a:ext cx="1805731" cy="2857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3614737"/>
            <a:ext cx="2970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542258" y="3614737"/>
            <a:ext cx="2170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3065" y="3614737"/>
            <a:ext cx="218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895332" y="3614737"/>
            <a:ext cx="1919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814768" y="3614737"/>
            <a:ext cx="1805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4224337"/>
            <a:ext cx="2970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542258" y="4224337"/>
            <a:ext cx="2170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713065" y="4224337"/>
            <a:ext cx="218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895332" y="4224337"/>
            <a:ext cx="1919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9814768" y="4224337"/>
            <a:ext cx="1805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71500" y="4833937"/>
            <a:ext cx="29707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542258" y="4833937"/>
            <a:ext cx="2170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713065" y="4833937"/>
            <a:ext cx="21822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895332" y="4833937"/>
            <a:ext cx="1919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9814768" y="4833937"/>
            <a:ext cx="18057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268" y="3209925"/>
            <a:ext cx="9239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058" y="1695450"/>
            <a:ext cx="5957441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00612"/>
            <a:ext cx="4710558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571500" y="9906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571500" y="381000"/>
            <a:ext cx="503062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STRATEGIC ACTION PLAN</a:t>
            </a:r>
            <a:endParaRPr/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5458" y="1953964"/>
            <a:ext cx="5652641" cy="376907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04875" y="2176462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Operational: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Deploy XGBoost for daily stock replenishment in Guayas stores.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04875" y="2947987"/>
            <a:ext cx="437718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Logistics: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Use Prophet's seasonality analysis to plan for regional holiday spikes.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04875" y="3719512"/>
            <a:ext cx="437718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ROI: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Implementing this automated forecast is projected to reduce inventory waste by 12% annually.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09625" y="5091112"/>
            <a:ext cx="428193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Access Project Codebase: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176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47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195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3A8A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1143000" y="2390775"/>
            <a:ext cx="84486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1143000" y="3162300"/>
            <a:ext cx="84486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390775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1143000" y="3152775"/>
            <a:ext cx="8448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143000" y="3152775"/>
            <a:ext cx="8448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162300"/>
            <a:ext cx="148232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1143000" y="3924300"/>
            <a:ext cx="8448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143000" y="3924300"/>
            <a:ext cx="8448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933825"/>
            <a:ext cx="14823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2238375" y="2554634"/>
            <a:ext cx="73533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https://www.shipbob.com/wp-content/uploads/2021/07/f67ab24e05f247dfe565ad97de1d04a4.jpg?w=1000?w=292px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2238375" y="2775495"/>
            <a:ext cx="7353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www.shipbob.com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2238375" y="3326159"/>
            <a:ext cx="73533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https://images.stockcake.com/public/5/5/6/556ee87f-6a8c-4e39-ab06-fe7335ad87cf_large/floating-analytics-dashboard-stockcake.jpg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2238375" y="3547020"/>
            <a:ext cx="7353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stockcake.com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2238375" y="4097684"/>
            <a:ext cx="73533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https://www.vlitefurnitech.com/wp-content/uploads/2024/11/U-shaped-business-meeting-table-scaled.webp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2238375" y="4318545"/>
            <a:ext cx="7353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www.vlitefurnitech.com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